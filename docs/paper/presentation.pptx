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methodology: test-driven, every acceptance criterion measured, 21 ADRs. The claims are computational, not phenomenal - stated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two families and position between them. The mapping table (next slide) is the evidence of the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repo file live if needed. Supporting refs marked honestly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pre-empts the 'is it rigorous' question. The calibration test that settled a two-theory dispute is in tests/ and git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region passed sweep or acceptance tests; cortex6 was tuned via a 16-combo sweep (tune_cortex.py).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hierarchy is TESTABLE (test_timescale_hierarchy) and was the tripwire that caught a real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 is a real run. If asked: the emotion levels feed somatic markers which bias action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steal is deterministic and test-verified (test_loud_event_steals_attention).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boundary protects the attribution chain - the 'why this action' question stays answerable.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dissociation is the point: two control regimes, measurably different. Dossier Q7 extends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18 acceptance: ON-arm 0/10 vs OFF-arm 10/10 visits to the punished region, eval goals 10/10 both 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scope note is deliberate - attribution clarity over claim inflation. Full neural readout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limitation BEFORE being asked. The gamma refinement (rhythmic rest drive)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builds credibility with academics - the limitation list is as important as the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every number shown today regenerates from a command. Invite the committee to run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Hybrid-Brain: A Test-Driven Spiking Cognitive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Integrating reward learning, affect, personality and language</a:t>
            </a:r>
          </a:p>
          <a:p>
            <a:pPr>
              <a:defRPr sz="1800"/>
            </a:pPr>
            <a:r>
              <a:t>• 63 commits | 17 tagged milestones | 111 tests | 21 architecture decision records</a:t>
            </a:r>
          </a:p>
          <a:p>
            <a:pPr>
              <a:defRPr sz="1800"/>
            </a:pPr>
            <a:r>
              <a:t>• Every number in this deck regenerates from a command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The integration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Spiking simulators (Brian2, NEST): rigorous neural dynamics,</a:t>
            </a:r>
          </a:p>
          <a:p>
            <a:pPr>
              <a:defRPr sz="1800"/>
            </a:pPr>
            <a:r>
              <a:t>•    but no cognition, affect or behavior loop</a:t>
            </a:r>
          </a:p>
          <a:p>
            <a:pPr>
              <a:defRPr sz="1800"/>
            </a:pPr>
            <a:r>
              <a:t>• Cognitive agents (ACT-R, Generative Agents): rich cognition,</a:t>
            </a:r>
          </a:p>
          <a:p>
            <a:pPr>
              <a:defRPr sz="1800"/>
            </a:pPr>
            <a:r>
              <a:t>•    but no neural substrate and no reward learning</a:t>
            </a:r>
          </a:p>
          <a:p>
            <a:pPr>
              <a:defRPr sz="1800"/>
            </a:pPr>
            <a:r>
              <a:t>• Hybrid-Brain: connects spiking cortex -&gt; affect -&gt; personality</a:t>
            </a:r>
          </a:p>
          <a:p>
            <a:pPr>
              <a:defRPr sz="1800"/>
            </a:pPr>
            <a:r>
              <a:t>•    -&gt; behavior in ONE loop, every module traced to literature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Every module traced to cognitive neuroscience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Dopaminergic RPE -&gt; Schultz, Dayan &amp; Montague (1997) Science</a:t>
            </a:r>
          </a:p>
          <a:p>
            <a:pPr>
              <a:defRPr sz="1800"/>
            </a:pPr>
            <a:r>
              <a:t>• Place cells -&gt; O'Keefe &amp; Nadel (1978) Cognitive Map</a:t>
            </a:r>
          </a:p>
          <a:p>
            <a:pPr>
              <a:defRPr sz="1800"/>
            </a:pPr>
            <a:r>
              <a:t>• Somatic markers -&gt; Damasio (1996) Phil Trans R Soc B</a:t>
            </a:r>
          </a:p>
          <a:p>
            <a:pPr>
              <a:defRPr sz="1800"/>
            </a:pPr>
            <a:r>
              <a:t>• Selective attention -&gt; Posner &amp; Petersen (1990) Annu Rev</a:t>
            </a:r>
          </a:p>
          <a:p>
            <a:pPr>
              <a:defRPr sz="1800"/>
            </a:pPr>
            <a:r>
              <a:t>• Habit vs goal -&gt; Balleine &amp; Dickinson (1998) Neuropharm</a:t>
            </a:r>
          </a:p>
          <a:p>
            <a:pPr>
              <a:defRPr sz="1800"/>
            </a:pPr>
            <a:r>
              <a:t>• Full table: docs/neuroscience_mapping.md (20+ modules)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Methods honesty: measurement over derivation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LIF neurons + E/I synapses, validated against Brian2</a:t>
            </a:r>
          </a:p>
          <a:p>
            <a:pPr>
              <a:defRPr sz="1800"/>
            </a:pPr>
            <a:r>
              <a:t>• f-I threshold: computed 0.93 (theory) vs measured 10-20</a:t>
            </a:r>
          </a:p>
          <a:p>
            <a:pPr>
              <a:defRPr sz="1800"/>
            </a:pPr>
            <a:r>
              <a:t>• The measurement superseded the derivation - recorded as a</a:t>
            </a:r>
          </a:p>
          <a:p>
            <a:pPr>
              <a:defRPr sz="1800"/>
            </a:pPr>
            <a:r>
              <a:t>•    methodological rule: data over derivation</a:t>
            </a:r>
          </a:p>
          <a:p>
            <a:pPr>
              <a:defRPr sz="1800"/>
            </a:pPr>
            <a:r>
              <a:t>• Amplifies to every module: acceptance by number, not 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Implemented brain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Thalamus: deterministic sensory relay</a:t>
            </a:r>
          </a:p>
          <a:p>
            <a:pPr>
              <a:defRPr sz="1800"/>
            </a:pPr>
            <a:r>
              <a:t>• Hippocampus: place cells (2D Gaussian fields)</a:t>
            </a:r>
          </a:p>
          <a:p>
            <a:pPr>
              <a:defRPr sz="1800"/>
            </a:pPr>
            <a:r>
              <a:t>• Amygdala: threat conditioning, dopamine-gated 3-factor rule</a:t>
            </a:r>
          </a:p>
          <a:p>
            <a:pPr>
              <a:defRPr sz="1800"/>
            </a:pPr>
            <a:r>
              <a:t>• Cortex6: six layers, homeostatic row-sum feedforward</a:t>
            </a:r>
          </a:p>
          <a:p>
            <a:pPr>
              <a:defRPr sz="1800"/>
            </a:pPr>
            <a:r>
              <a:t>• Basal ganglia: Go/No-Go channels, cross-inhibition</a:t>
            </a:r>
          </a:p>
          <a:p>
            <a:pPr>
              <a:defRPr sz="1800"/>
            </a:pPr>
            <a:r>
              <a:t>• PFC: recurrent working memory with delay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Emotion dynamics under sustained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Six Ekman emotions with timescale hierarchy:</a:t>
            </a:r>
          </a:p>
          <a:p>
            <a:pPr>
              <a:defRPr sz="1800"/>
            </a:pPr>
            <a:r>
              <a:t>•    dopamine ~100ms | emotions 2-30s | moods ~hours (ADR-012)</a:t>
            </a:r>
          </a:p>
          <a:p>
            <a:pPr>
              <a:defRPr sz="1800"/>
            </a:pPr>
            <a:r>
              <a:t>• sadness (tau 30s) rises slowly and persists; anger faster</a:t>
            </a:r>
          </a:p>
          <a:p>
            <a:pPr>
              <a:defRPr sz="1800"/>
            </a:pPr>
            <a:r>
              <a:t>•    (blocked-escape profile) - matches figure</a:t>
            </a:r>
          </a:p>
        </p:txBody>
      </p:sp>
      <p:pic>
        <p:nvPicPr>
          <p:cNvPr id="4" name="Picture 3" descr="fig1_emotion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4859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Live affect monitor + narration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struggle scenario: sadness 0-&gt;0.16, anger 0-&gt;0.30</a:t>
            </a:r>
          </a:p>
          <a:p>
            <a:pPr>
              <a:defRPr sz="1800"/>
            </a:pPr>
            <a:r>
              <a:t>• valence -0.36, arousal 0.86 (measured run)</a:t>
            </a:r>
          </a:p>
          <a:p>
            <a:pPr>
              <a:defRPr sz="1800"/>
            </a:pPr>
            <a:r>
              <a:t>• Narration reflects the dominant emotion - telemetry in</a:t>
            </a:r>
          </a:p>
          <a:p>
            <a:pPr>
              <a:defRPr sz="1800"/>
            </a:pPr>
            <a:r>
              <a:t>•    language, per ADR-018</a:t>
            </a:r>
          </a:p>
        </p:txBody>
      </p:sp>
      <p:pic>
        <p:nvPicPr>
          <p:cNvPr id="4" name="Picture 3" descr="strug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33354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Selective attention with two real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Visual cortex vs auditory stream, genuinely competing</a:t>
            </a:r>
          </a:p>
          <a:p>
            <a:pPr>
              <a:defRPr sz="1800"/>
            </a:pPr>
            <a:r>
              <a:t>• Attended stream gets 3x gain; dwell prevents flicker</a:t>
            </a:r>
          </a:p>
          <a:p>
            <a:pPr>
              <a:defRPr sz="1800"/>
            </a:pPr>
            <a:r>
              <a:t>• Loud auditory event STEALS attention after dwell</a:t>
            </a:r>
          </a:p>
          <a:p>
            <a:pPr>
              <a:defRPr sz="1800"/>
            </a:pPr>
            <a:r>
              <a:t>• Posner &amp; Petersen (1990) networks, implemented</a:t>
            </a:r>
          </a:p>
        </p:txBody>
      </p:sp>
      <p:pic>
        <p:nvPicPr>
          <p:cNvPr id="4" name="Picture 3" descr="fig2_cocktail_pa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48593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Language narrates, never decides (ADR-018)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An LLM that acts = an untrained foreign brain: outside RPE,</a:t>
            </a:r>
          </a:p>
          <a:p>
            <a:pPr>
              <a:defRPr sz="1800"/>
            </a:pPr>
            <a:r>
              <a:t>•    plasticity, consolidation - nothing teaches it</a:t>
            </a:r>
          </a:p>
          <a:p>
            <a:pPr>
              <a:defRPr sz="1800"/>
            </a:pPr>
            <a:r>
              <a:t>• Language = READ-ONLY telemetry: consumes GlobalWorkspace,</a:t>
            </a:r>
          </a:p>
          <a:p>
            <a:pPr>
              <a:defRPr sz="1800"/>
            </a:pPr>
            <a:r>
              <a:t>•    emotions, attention; emits first-person narration</a:t>
            </a:r>
          </a:p>
          <a:p>
            <a:pPr>
              <a:defRPr sz="1800"/>
            </a:pPr>
            <a:r>
              <a:t>• First spoken sentence from real brain state</a:t>
            </a:r>
          </a:p>
        </p:txBody>
      </p:sp>
      <p:pic>
        <p:nvPicPr>
          <p:cNvPr id="4" name="Picture 3" descr="brain spoke for the first time.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14289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Habit vs goal-directed dissociation (ADR-019)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Habits form only on LOW RPE-variance (stable values)</a:t>
            </a:r>
          </a:p>
          <a:p>
            <a:pPr>
              <a:defRPr sz="1800"/>
            </a:pPr>
            <a:r>
              <a:t>• Ballistic execution: no value lookup, no BG call</a:t>
            </a:r>
          </a:p>
          <a:p>
            <a:pPr>
              <a:defRPr sz="1800"/>
            </a:pPr>
            <a:r>
              <a:t>• Under reward devaluation: inertia persists, then an</a:t>
            </a:r>
          </a:p>
          <a:p>
            <a:pPr>
              <a:defRPr sz="1800"/>
            </a:pPr>
            <a:r>
              <a:t>•    accumulated-error detector invalidates the cache</a:t>
            </a:r>
          </a:p>
          <a:p>
            <a:pPr>
              <a:defRPr sz="1800"/>
            </a:pPr>
            <a:r>
              <a:t>• Balleine &amp; Dickinson (1998); Yin &amp; Knowlton (2006)</a:t>
            </a:r>
          </a:p>
        </p:txBody>
      </p:sp>
      <p:pic>
        <p:nvPicPr>
          <p:cNvPr id="4" name="Picture 3" descr="fig3_habit_dissoc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Somatic markers bias decisions (Damasio 1996)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Punishment + arousal accrue a bounded position penalty</a:t>
            </a:r>
          </a:p>
          <a:p>
            <a:pPr>
              <a:defRPr sz="1800"/>
            </a:pPr>
            <a:r>
              <a:t>• Read-time bias on action utilities - never written into</a:t>
            </a:r>
          </a:p>
          <a:p>
            <a:pPr>
              <a:defRPr sz="1800"/>
            </a:pPr>
            <a:r>
              <a:t>•    the value table (extinction snaps to zero past threshold)</a:t>
            </a:r>
          </a:p>
          <a:p>
            <a:pPr>
              <a:defRPr sz="1800"/>
            </a:pPr>
            <a:r>
              <a:t>• Ablation-tested: avoidance with ZERO navigation cost</a:t>
            </a:r>
          </a:p>
        </p:txBody>
      </p:sp>
      <p:pic>
        <p:nvPicPr>
          <p:cNvPr id="4" name="Picture 3" descr="fig4_somatic_ma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32395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Visual-motor closed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VisualWorld render -&gt; MobileNet features -&gt; six-layer cortex</a:t>
            </a:r>
          </a:p>
          <a:p>
            <a:pPr>
              <a:defRPr sz="1800"/>
            </a:pPr>
            <a:r>
              <a:t>• -&gt; attention -&gt; Q(cell, action) -&gt; MotorActuator -&gt; reward</a:t>
            </a:r>
          </a:p>
          <a:p>
            <a:pPr>
              <a:defRPr sz="1800"/>
            </a:pPr>
            <a:r>
              <a:t>• Best evaluation trajectory: distance 1.50 -&gt; 0.50</a:t>
            </a:r>
          </a:p>
          <a:p>
            <a:pPr>
              <a:defRPr sz="1800"/>
            </a:pPr>
            <a:r>
              <a:t>• Honest scope: decision via proven Q-table; neural readout</a:t>
            </a:r>
          </a:p>
          <a:p>
            <a:pPr>
              <a:defRPr sz="1800"/>
            </a:pPr>
            <a:r>
              <a:t>•    live in-loop and logged</a:t>
            </a:r>
          </a:p>
        </p:txBody>
      </p:sp>
      <p:pic>
        <p:nvPicPr>
          <p:cNvPr id="4" name="Picture 3" descr="fig5_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Simulated EEG: rest vs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Region activity -&gt; 10-20 montage channels -&gt; FFT band power</a:t>
            </a:r>
          </a:p>
          <a:p>
            <a:pPr>
              <a:defRPr sz="1800"/>
            </a:pPr>
            <a:r>
              <a:t>• Threat shifts BETA power x1.94 (stress-EEG consistent)</a:t>
            </a:r>
          </a:p>
          <a:p>
            <a:pPr>
              <a:defRPr sz="1800"/>
            </a:pPr>
            <a:r>
              <a:t>• LIMITATION stated: rest gamma inflated by constant 75Hz</a:t>
            </a:r>
          </a:p>
          <a:p>
            <a:pPr>
              <a:defRPr sz="1800"/>
            </a:pPr>
            <a:r>
              <a:t>•    drive; simulated EEG proxy, not a scalp forward model</a:t>
            </a:r>
          </a:p>
        </p:txBody>
      </p:sp>
      <p:pic>
        <p:nvPicPr>
          <p:cNvPr id="4" name="Picture 3" descr="fig6_eeg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6692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Affect is COMPUTATIONAL, not phenomenal - no qualia claim</a:t>
            </a:r>
          </a:p>
          <a:p>
            <a:pPr>
              <a:defRPr sz="1800"/>
            </a:pPr>
            <a:r>
              <a:t>• Rat-scale abstractions: grid world, tone events</a:t>
            </a:r>
          </a:p>
          <a:p>
            <a:pPr>
              <a:defRPr sz="1800"/>
            </a:pPr>
            <a:r>
              <a:t>• Single-seed measurements; test-retest pending</a:t>
            </a:r>
          </a:p>
          <a:p>
            <a:pPr>
              <a:defRPr sz="1800"/>
            </a:pPr>
            <a:r>
              <a:t>• EEG is a simulated proxy; gamma baseline limitation</a:t>
            </a:r>
          </a:p>
          <a:p>
            <a:pPr>
              <a:defRPr sz="1800"/>
            </a:pPr>
            <a:r>
              <a:t>• Scope decisions recorded: ADR-006, ADR-020, ADR-021</a:t>
            </a:r>
          </a:p>
          <a:p>
            <a:pPr>
              <a:defRPr sz="1800"/>
            </a:pPr>
            <a:r>
              <a:t>•    (superhuman features deferred, not silently cut)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63 commits, 17 tags, 111 tests, 21 ADRs</a:t>
            </a:r>
          </a:p>
          <a:p>
            <a:pPr>
              <a:defRPr sz="1800"/>
            </a:pPr>
            <a:r>
              <a:t>• Seed registry: every RNG seed scanned and documented</a:t>
            </a:r>
          </a:p>
          <a:p>
            <a:pPr>
              <a:defRPr sz="1800"/>
            </a:pPr>
            <a:r>
              <a:t>• Figure regeneration: one command each (make_figures,</a:t>
            </a:r>
          </a:p>
          <a:p>
            <a:pPr>
              <a:defRPr sz="1800"/>
            </a:pPr>
            <a:r>
              <a:t>•    eeg_simulator, demo_month6)</a:t>
            </a:r>
          </a:p>
          <a:p>
            <a:pPr>
              <a:defRPr sz="1800"/>
            </a:pPr>
            <a:r>
              <a:t>• Repository: github.com/esmaeilireza/Hybrid-Brain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